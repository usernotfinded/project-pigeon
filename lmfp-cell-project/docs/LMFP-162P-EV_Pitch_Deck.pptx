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LMFP-162P-EV</c:v>
                </c:pt>
              </c:strCache>
            </c:strRef>
          </c:tx>
          <c:spPr>
            <a:solidFill>
              <a:srgbClr val="0C85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5</c:v>
                  </c:pt>
                  <c:pt idx="1">
                    <c:v>Year 10</c:v>
                  </c:pt>
                  <c:pt idx="2">
                    <c:v>Year 15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0.023</c:v>
                </c:pt>
                <c:pt idx="1">
                  <c:v>0.012</c:v>
                </c:pt>
                <c:pt idx="2">
                  <c:v>0.008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BYD Blade 2.0</c:v>
                </c:pt>
              </c:strCache>
            </c:strRef>
          </c:tx>
          <c:spPr>
            <a:solidFill>
              <a:srgbClr val="E070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5</c:v>
                  </c:pt>
                  <c:pt idx="1">
                    <c:v>Year 10</c:v>
                  </c:pt>
                  <c:pt idx="2">
                    <c:v>Year 15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0.025</c:v>
                </c:pt>
                <c:pt idx="1">
                  <c:v>0.015</c:v>
                </c:pt>
                <c:pt idx="2">
                  <c:v>0.015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CATL Shenxing</c:v>
                </c:pt>
              </c:strCache>
            </c:strRef>
          </c:tx>
          <c:spPr>
            <a:solidFill>
              <a:srgbClr val="6488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5</c:v>
                  </c:pt>
                  <c:pt idx="1">
                    <c:v>Year 10</c:v>
                  </c:pt>
                  <c:pt idx="2">
                    <c:v>Year 15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0.032</c:v>
                </c:pt>
                <c:pt idx="1">
                  <c:v>0.019</c:v>
                </c:pt>
                <c:pt idx="2">
                  <c:v>0.019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C859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LMFP-162P-EV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31520" y="2743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battery built to last 5,000 cycles.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9-minute headlines.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572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 Ah  •  612 Wh  •  191–201 Wh/kg  •  800V compatible  •  4C max charge  •  15+ year calendar life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industry is solving the wrong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manufacturer races to charge faster. But fleet operators don't need 9-minute charges — they need batteries that survive 15 years of daily use.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103120"/>
            <a:ext cx="24688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3,000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2468880" cy="731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BYD Blade 2.0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life (claimed)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210312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2103120"/>
            <a:ext cx="24688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2377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~2,500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74720" y="3108960"/>
            <a:ext cx="2468880" cy="731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CATL Shenxing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life (estimated)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10312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2103120"/>
            <a:ext cx="24688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377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€8,400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217920" y="3108960"/>
            <a:ext cx="2468880" cy="731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replacement cost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year 8 for fleet of 50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metric is cost per kWh delivered over the battery's lifetime — not charging speed.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LMFP-162P-EV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468880" cy="155448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612.4 Wh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4400" y="1920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energy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474720" y="1188720"/>
            <a:ext cx="2468880" cy="155448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3716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06908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191–201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3657600" y="1920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Wh/kg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17920" y="1188720"/>
            <a:ext cx="2468880" cy="155448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1228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4,570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6400800" y="1920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@ 1C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(pack worst-case)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731520" y="3017520"/>
            <a:ext cx="2468880" cy="155448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0040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25880" y="3108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 min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914400" y="3749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10→80% at 3C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(CC-CV modeled)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474720" y="3017520"/>
            <a:ext cx="2468880" cy="155448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20040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069080" y="3108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90%+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3657600" y="3749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(peer-reviewed)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217920" y="3017520"/>
            <a:ext cx="2468880" cy="155448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2004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812280" y="3108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605 km</a:t>
            </a:r>
            <a:endParaRPr lang="en-US" sz="2200" dirty="0"/>
          </a:p>
        </p:txBody>
      </p:sp>
      <p:sp>
        <p:nvSpPr>
          <p:cNvPr id="26" name="Text 18"/>
          <p:cNvSpPr/>
          <p:nvPr/>
        </p:nvSpPr>
        <p:spPr>
          <a:xfrm>
            <a:off x="6400800" y="3749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estimate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(mixed cycle)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positioning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772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01168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LMFP-162P-EV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BYD Blade 2.0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CATL Shenxing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density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191–201 Wh/kg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190–210 Wh/kg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~210 Wh/kg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10→80% charge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~5–7 min (claim)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min (claim)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 life 1C (pack)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4,100–5,000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3,000–3,500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2,000–3,000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C-rate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4C (hard cap)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8C (peak claim)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10C (peak claim)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 life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15–18 years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~10–12 years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 dissolution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 defense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90%+ (peer-reviewed)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4206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charge in 20 minutes, not 9. For fleets, buses, and ESS, this is a feature — gentler charging preserves the cycle life advantage that defines our cell.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cost of ownership: the metric that matters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1371600"/>
            <a:ext cx="2926080" cy="274320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5448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368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Fleet savings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126480" y="210312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40–60% more cycles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the battery outlasts the vehicle.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year 15, </a:t>
            </a:r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need pack replacement. </a:t>
            </a:r>
            <a:pPr indent="0" marL="0">
              <a:buNone/>
            </a:pPr>
            <a:r>
              <a:rPr lang="en-US" sz="1100" b="1" dirty="0">
                <a:solidFill>
                  <a:srgbClr val="0C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don't.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50-vehicle fleet: </a:t>
            </a:r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€200k–400k saved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battery lifetime.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Triple defense against Mn dissolution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independent, peer-reviewed mechanisms working in synergy — each validated individually, combined for maximum durability.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468880" cy="292608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Mg/Nb dual-doped cathode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65176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 mitigates Jahn-Teller distortion.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reduces antisite defects, accelerates Li⁺ diffusion.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retention after 2,000 cycles (literature).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474720" y="1554480"/>
            <a:ext cx="2468880" cy="292608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7373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0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LiFSI 95/5 electrolyte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657600" y="265176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90%+ of HF generation — the primary driver of Mn dissolution.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LiPF₆ retained for Al passivation.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Dalhousie 2025: validated in full cells.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217920" y="1554480"/>
            <a:ext cx="2468880" cy="292608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3736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0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LFP surface coating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400800" y="265176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μm LiFePO₄ shell shields LMFP from direct electrolyte contact.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&gt;50% reduction in Mn/Fe dissolution in full-cell tests at 60°C.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C859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protocol: TRL 4 → TRL 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simulation assumption has a physical test designed to falsify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772400" cy="384048"/>
          </a:xfrm>
          <a:prstGeom prst="rect">
            <a:avLst/>
          </a:prstGeom>
          <a:solidFill>
            <a:srgbClr val="0F2234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517904"/>
            <a:ext cx="640080" cy="274320"/>
          </a:xfrm>
          <a:prstGeom prst="rect">
            <a:avLst/>
          </a:prstGeom>
          <a:solidFill>
            <a:srgbClr val="0C859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179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T1–T3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45920" y="1463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DCIR(SOC, T) mapping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1463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1463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dynamic resistance model at 0°C worst case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1920240"/>
            <a:ext cx="7772400" cy="3840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1975104"/>
            <a:ext cx="640080" cy="274320"/>
          </a:xfrm>
          <a:prstGeom prst="rect">
            <a:avLst/>
          </a:prstGeom>
          <a:solidFill>
            <a:srgbClr val="0C859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9751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45920" y="19202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taper τ_macro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19202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9202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diffusion time constant (model: 150s)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2377440"/>
            <a:ext cx="7772400" cy="384048"/>
          </a:xfrm>
          <a:prstGeom prst="rect">
            <a:avLst/>
          </a:prstGeom>
          <a:solidFill>
            <a:srgbClr val="0F2234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2432304"/>
            <a:ext cx="640080" cy="274320"/>
          </a:xfrm>
          <a:prstGeom prst="rect">
            <a:avLst/>
          </a:prstGeom>
          <a:solidFill>
            <a:srgbClr val="0C8599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24323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T5a/b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45920" y="2377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 dissolution kinetics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0" y="23774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377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Sacrificial cell matrix + static SOC holds at 45°C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2834640"/>
            <a:ext cx="7772400" cy="3840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2889504"/>
            <a:ext cx="640080" cy="274320"/>
          </a:xfrm>
          <a:prstGeom prst="rect">
            <a:avLst/>
          </a:prstGeom>
          <a:solidFill>
            <a:srgbClr val="0C8599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28895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45920" y="28346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plating detection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0" y="28346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28346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electrode + voltage relaxation at 4C/10°C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3291840"/>
            <a:ext cx="7772400" cy="384048"/>
          </a:xfrm>
          <a:prstGeom prst="rect">
            <a:avLst/>
          </a:prstGeom>
          <a:solidFill>
            <a:srgbClr val="0F2234"/>
          </a:solidFill>
          <a:ln/>
        </p:spPr>
      </p:sp>
      <p:sp>
        <p:nvSpPr>
          <p:cNvPr id="30" name="Shape 28"/>
          <p:cNvSpPr/>
          <p:nvPr/>
        </p:nvSpPr>
        <p:spPr>
          <a:xfrm>
            <a:off x="822960" y="3346704"/>
            <a:ext cx="640080" cy="274320"/>
          </a:xfrm>
          <a:prstGeom prst="rect">
            <a:avLst/>
          </a:prstGeom>
          <a:solidFill>
            <a:srgbClr val="0C8599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33467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T7/T8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645920" y="3291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life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0" y="32918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3291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cycles @ 1C • 2,840 cycles @ 3C target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3749040"/>
            <a:ext cx="7772400" cy="3840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6" name="Shape 34"/>
          <p:cNvSpPr/>
          <p:nvPr/>
        </p:nvSpPr>
        <p:spPr>
          <a:xfrm>
            <a:off x="822960" y="3803904"/>
            <a:ext cx="640080" cy="274320"/>
          </a:xfrm>
          <a:prstGeom prst="rect">
            <a:avLst/>
          </a:prstGeom>
          <a:solidFill>
            <a:srgbClr val="0C8599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38039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645920" y="3749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gradient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0" y="3749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54880" y="3749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Core-to-surface ΔT in multi-layer cells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31520" y="4206240"/>
            <a:ext cx="3657600" cy="731520"/>
          </a:xfrm>
          <a:prstGeom prst="rect">
            <a:avLst/>
          </a:prstGeom>
          <a:solidFill>
            <a:srgbClr val="0F223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22960" y="423367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(Month 4)
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DCIR + τ + electrolyte compatibility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→ commit to long-duration cycling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46320" y="4206240"/>
            <a:ext cx="3657600" cy="731520"/>
          </a:xfrm>
          <a:prstGeom prst="rect">
            <a:avLst/>
          </a:prstGeom>
          <a:solidFill>
            <a:srgbClr val="0F223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937760" y="423367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(Month 8)
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life trending + Mn dissolution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→ full-format cell design freeze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468880" cy="347472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2468880" cy="502920"/>
          </a:xfrm>
          <a:prstGeom prst="rect">
            <a:avLst/>
          </a:prstGeom>
          <a:solidFill>
            <a:srgbClr val="0C859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920240" y="1188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4 → 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18 months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Wet electrode, proven components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5603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peer-reviewed materials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SLPC validation protocol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test cells, 2 decision gates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v2.0 simulation with measured parameters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1188720"/>
            <a:ext cx="2468880" cy="347472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188720"/>
            <a:ext cx="246888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188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1188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5 → 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188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→ 36 months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Dry electrode process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11880" y="25603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confirmed dry cathode Jan 2026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to prismatic LMFP format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−30% manufacturing cost, −50% factory footprint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Published: 185 Wh/kg, 470 Wh/L at electrode level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188720"/>
            <a:ext cx="2468880" cy="347472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188720"/>
            <a:ext cx="2468880" cy="502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188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06640" y="1188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3 → 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5508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36+ months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Next-generation cathode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25603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Single-crystal LMFP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Mn content (65/35)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Si-C composite anode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&gt;220 Wh/kg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BMS philosophy: protect the cell from itself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772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475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Temperature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Max C-rate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Rationale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1C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Plating risk &gt; 70. Anode diffusion critically slow.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10–15°C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2C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DCIR 2×+ ref. Elevated heat + plating risk.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15–20°C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3C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Conservative pre-heating zone.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28–38°C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4C (SOC &lt; 80%)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window. Full performance unlocked.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40°C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2C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Suppress core hotspot + Mn dissolution.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3383280"/>
            <a:ext cx="77724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56616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71600" y="3520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Voltage derating (data-driven, from T5b)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T_cell &lt; 30°C: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to 4.20V (full capacity)
</a:t>
            </a:r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T_cell &gt; 35°C: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to 4.15V (~90% SOC). Sacrifices 5% capacity to suppress thermodynamic Mn dissolution.
</a:t>
            </a:r>
            <a:pPr indent="0" marL="0">
              <a:buNone/>
            </a:pPr>
            <a:r>
              <a:rPr lang="en-US" sz="1100" b="1" dirty="0">
                <a:solidFill>
                  <a:srgbClr val="0C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pack life extension in hot climates: +20–30% at zero hardware cost.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C859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looking for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772400" cy="914400"/>
          </a:xfrm>
          <a:prstGeom prst="rect">
            <a:avLst/>
          </a:prstGeom>
          <a:solidFill>
            <a:srgbClr val="0F223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University lab partnership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45920" y="17830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glovebox, potentiostat, thermal chamber, ICP-OES.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Polimi / UniBo preferred. Budget: €20–40k materials.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2468880"/>
            <a:ext cx="7772400" cy="914400"/>
          </a:xfrm>
          <a:prstGeom prst="rect">
            <a:avLst/>
          </a:prstGeom>
          <a:solidFill>
            <a:srgbClr val="0F223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6517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funding for TRL 5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645920" y="28803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€80–160k for complete 18-month validation protocol.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test cells, 10 tests, 2 decision gates.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31520" y="3566160"/>
            <a:ext cx="7772400" cy="914400"/>
          </a:xfrm>
          <a:prstGeom prst="rect">
            <a:avLst/>
          </a:prstGeom>
          <a:solidFill>
            <a:srgbClr val="0F223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7490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45920" y="3611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partner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645920" y="39776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or fleet operator for co-development.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real-world duty cycles and thermal requirements.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2"/>
          <p:cNvSpPr/>
          <p:nvPr/>
        </p:nvSpPr>
        <p:spPr>
          <a:xfrm>
            <a:off x="731520" y="4572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Natan Mucelli  •  github.com/[repo]  •  natan@[email]  •  March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LMFP-162P-EV — Technical Pitch Deck</dc:title>
  <dc:subject>PptxGenJS Presentation</dc:subject>
  <dc:creator>Natan Mucelli</dc:creator>
  <cp:lastModifiedBy>Natan Mucelli</cp:lastModifiedBy>
  <cp:revision>1</cp:revision>
  <dcterms:created xsi:type="dcterms:W3CDTF">2026-03-28T09:20:11Z</dcterms:created>
  <dcterms:modified xsi:type="dcterms:W3CDTF">2026-03-28T09:20:11Z</dcterms:modified>
</cp:coreProperties>
</file>